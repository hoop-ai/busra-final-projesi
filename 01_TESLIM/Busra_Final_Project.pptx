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Katılımcı bazında CR (örnek)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Katılımcı bazında CR (örnek)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K1</c:v>
                </c:pt>
                <c:pt idx="1">
                  <c:v>K2</c:v>
                </c:pt>
                <c:pt idx="2">
                  <c:v>K3</c:v>
                </c:pt>
                <c:pt idx="3">
                  <c:v>K4</c:v>
                </c:pt>
                <c:pt idx="4">
                  <c:v>K5</c:v>
                </c:pt>
                <c:pt idx="5">
                  <c:v>K6</c:v>
                </c:pt>
                <c:pt idx="6">
                  <c:v>K7</c:v>
                </c:pt>
                <c:pt idx="7">
                  <c:v>K8</c:v>
                </c:pt>
                <c:pt idx="8">
                  <c:v>K9</c:v>
                </c:pt>
                <c:pt idx="9">
                  <c:v>K10</c:v>
                </c:pt>
                <c:pt idx="10">
                  <c:v>K11</c:v>
                </c:pt>
                <c:pt idx="11">
                  <c:v>K12</c:v>
                </c:pt>
                <c:pt idx="12">
                  <c:v>K13</c:v>
                </c:pt>
                <c:pt idx="13">
                  <c:v>K14</c:v>
                </c:pt>
                <c:pt idx="14">
                  <c:v>K15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0.045</c:v>
                </c:pt>
                <c:pt idx="1">
                  <c:v>0.0</c:v>
                </c:pt>
                <c:pt idx="2">
                  <c:v>0.231</c:v>
                </c:pt>
                <c:pt idx="3">
                  <c:v>0.365</c:v>
                </c:pt>
                <c:pt idx="4">
                  <c:v>0.096</c:v>
                </c:pt>
                <c:pt idx="5">
                  <c:v>0.465</c:v>
                </c:pt>
                <c:pt idx="6">
                  <c:v>0.034</c:v>
                </c:pt>
                <c:pt idx="7">
                  <c:v>0.194</c:v>
                </c:pt>
                <c:pt idx="8">
                  <c:v>0.0</c:v>
                </c:pt>
                <c:pt idx="9">
                  <c:v>0.041</c:v>
                </c:pt>
                <c:pt idx="10">
                  <c:v>0.153</c:v>
                </c:pt>
                <c:pt idx="11">
                  <c:v>0.034</c:v>
                </c:pt>
                <c:pt idx="12">
                  <c:v>0.453</c:v>
                </c:pt>
                <c:pt idx="13">
                  <c:v>0.009</c:v>
                </c:pt>
                <c:pt idx="14">
                  <c:v>0.034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Yakınlık Katsayısı C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Yakınlık Katsayısı 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Trendyol</c:v>
                </c:pt>
                <c:pt idx="1">
                  <c:v>Amazon Türkiye</c:v>
                </c:pt>
                <c:pt idx="2">
                  <c:v>Hepsiburada</c:v>
                </c:pt>
                <c:pt idx="3">
                  <c:v>Çiçek Sepeti</c:v>
                </c:pt>
                <c:pt idx="4">
                  <c:v>N11</c:v>
                </c:pt>
                <c:pt idx="5">
                  <c:v>PttAVM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0.8713</c:v>
                </c:pt>
                <c:pt idx="1">
                  <c:v>0.8616</c:v>
                </c:pt>
                <c:pt idx="2">
                  <c:v>0.8118</c:v>
                </c:pt>
                <c:pt idx="3">
                  <c:v>0.4605</c:v>
                </c:pt>
                <c:pt idx="4">
                  <c:v>0.2715</c:v>
                </c:pt>
                <c:pt idx="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ELECTRE Net Skor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ELECTRE Net Skor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Trendyol</c:v>
                </c:pt>
                <c:pt idx="1">
                  <c:v>Amazon Türkiye</c:v>
                </c:pt>
                <c:pt idx="2">
                  <c:v>Hepsiburada</c:v>
                </c:pt>
                <c:pt idx="3">
                  <c:v>N11</c:v>
                </c:pt>
                <c:pt idx="4">
                  <c:v>Çiçek Sepeti</c:v>
                </c:pt>
                <c:pt idx="5">
                  <c:v>PttAVM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-2</c:v>
                </c:pt>
                <c:pt idx="4">
                  <c:v>-2</c:v>
                </c:pt>
                <c:pt idx="5">
                  <c:v>-5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AHP + TOPSIS + ELECTRE ile</a:t>
            </a:r>
          </a:p>
          <a:p>
            <a:r>
              <a:t>E-Ticaret Sitelerinin Performans Değerlendirmesi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Büşra Nur Yıldırım  •  230326759  •  Kırmızı Grup</a:t>
            </a:r>
          </a:p>
          <a:p>
            <a:r>
              <a:t>YBS302 Karar Destek Sistemleri  •  Dr. Öğr. Üyesi Neda Alipour</a:t>
            </a:r>
          </a:p>
          <a:p>
            <a:r>
              <a:t>İstanbul Gelişim Üniversitesi  •  Bahar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Amaç ve Araştırma Sorusu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Amaç: Türkiye'de yaygın kullanılan 6 e-ticaret sitesini, kullanıcıların algıladığı performansa göre objektif olarak sıralamak.</a:t>
            </a:r>
          </a:p>
          <a:p>
            <a:pPr>
              <a:spcAft>
                <a:spcPts val="800"/>
              </a:spcAft>
            </a:pPr>
            <a:r>
              <a:rPr sz="1800"/>
              <a:t>Araştırma sorusu: Hangi e-ticaret sitesi, kullanıcı tarafından belirlenen ağırlıklı kriterlere göre en yüksek performansı sunmaktadır?</a:t>
            </a:r>
          </a:p>
          <a:p>
            <a:pPr>
              <a:spcAft>
                <a:spcPts val="800"/>
              </a:spcAft>
            </a:pPr>
            <a:r>
              <a:rPr sz="1800"/>
              <a:t>Yöntem: Klasik çok kriterli karar verme (MCDM) — AHP ile kriter ağırlıkları, TOPSIS ve ELECTRE ile alternatif sıralaması.</a:t>
            </a:r>
          </a:p>
          <a:p>
            <a:pPr>
              <a:spcAft>
                <a:spcPts val="800"/>
              </a:spcAft>
            </a:pPr>
            <a:r>
              <a:rPr sz="1800"/>
              <a:t>Veri kaynağı: Google Forms üzerinden toplanmış anonim katılımcı yanıtları.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Yöntem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AHP (Analytic Hierarchy Process): Her katılımcının ikili karşılaştırmalarından kriter ağırlıkları üretir.</a:t>
            </a:r>
          </a:p>
          <a:p>
            <a:pPr>
              <a:spcAft>
                <a:spcPts val="800"/>
              </a:spcAft>
            </a:pPr>
            <a:r>
              <a:rPr sz="1800"/>
              <a:t>Tutarlılık Oranı (CR ≤ 0.10): Mantıksız karşılaştırma yapan katılımcılar filtrelenir.</a:t>
            </a:r>
          </a:p>
          <a:p>
            <a:pPr>
              <a:spcAft>
                <a:spcPts val="800"/>
              </a:spcAft>
            </a:pPr>
            <a:r>
              <a:rPr sz="1800"/>
              <a:t>Geometrik ortalama: Tutarlı katılımcıların ağırlıkları tek bir nihai ağırlık vektörüne birleştirilir.</a:t>
            </a:r>
          </a:p>
          <a:p>
            <a:pPr>
              <a:spcAft>
                <a:spcPts val="800"/>
              </a:spcAft>
            </a:pPr>
            <a:r>
              <a:rPr sz="1800"/>
              <a:t>Aritmetik ortalama: Alternatif performans puanları tek bir karar matrisine birleştirilir.</a:t>
            </a:r>
          </a:p>
          <a:p>
            <a:pPr>
              <a:spcAft>
                <a:spcPts val="800"/>
              </a:spcAft>
            </a:pPr>
            <a:r>
              <a:rPr sz="1800"/>
              <a:t>TOPSIS: Aday alternatifin pozitif ve negatif ideal çözümlere göre yakınlık katsayısı (Cᵢ).</a:t>
            </a:r>
          </a:p>
          <a:p>
            <a:pPr>
              <a:spcAft>
                <a:spcPts val="800"/>
              </a:spcAft>
            </a:pPr>
            <a:r>
              <a:rPr sz="1800"/>
              <a:t>ELECTRE I: Uyum / uyumsuzluk endeksleriyle baskınlık (outranking) ilişkileri.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Görevin Sıkı Kuralları (Final.docx)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1. Anket soru sırası değiştirilemez.</a:t>
            </a:r>
          </a:p>
          <a:p>
            <a:pPr>
              <a:spcAft>
                <a:spcPts val="800"/>
              </a:spcAft>
            </a:pPr>
            <a:r>
              <a:rPr sz="1600"/>
              <a:t>2. En az 25 katılımcı (35+ için +5 bonus).</a:t>
            </a:r>
          </a:p>
          <a:p>
            <a:pPr>
              <a:spcAft>
                <a:spcPts val="800"/>
              </a:spcAft>
            </a:pPr>
            <a:r>
              <a:rPr sz="1600"/>
              <a:t>3. Her katılımcı için ayrı AHP analizi gerekli.</a:t>
            </a:r>
          </a:p>
          <a:p>
            <a:pPr>
              <a:spcAft>
                <a:spcPts val="800"/>
              </a:spcAft>
            </a:pPr>
            <a:r>
              <a:rPr sz="1600"/>
              <a:t>4. En az 20 katılımcı tutarlı olmalı (CR ≤ 0.10).</a:t>
            </a:r>
          </a:p>
          <a:p>
            <a:pPr>
              <a:spcAft>
                <a:spcPts val="800"/>
              </a:spcAft>
            </a:pPr>
            <a:r>
              <a:rPr sz="1600"/>
              <a:t>5. AHP ağırlıkları GEOMETRİK ortalama ile birleştirilir.</a:t>
            </a:r>
          </a:p>
          <a:p>
            <a:pPr>
              <a:spcAft>
                <a:spcPts val="800"/>
              </a:spcAft>
            </a:pPr>
            <a:r>
              <a:rPr sz="1600"/>
              <a:t>6. Alternatif puanları ARİTMETİK ortalama ile birleştirilir.</a:t>
            </a:r>
          </a:p>
          <a:p>
            <a:pPr>
              <a:spcAft>
                <a:spcPts val="800"/>
              </a:spcAft>
            </a:pPr>
            <a:r>
              <a:rPr sz="1600"/>
              <a:t>7. TOPSIS ve ELECTRE birer kez çalıştırılır — toplam veri üzerinden.</a:t>
            </a:r>
          </a:p>
          <a:p>
            <a:pPr>
              <a:spcAft>
                <a:spcPts val="800"/>
              </a:spcAft>
            </a:pPr>
            <a:r>
              <a:rPr sz="1600"/>
              <a:t>8. Tüm kriterler FAYDA tipindedir (yüksek = iyi).</a:t>
            </a:r>
          </a:p>
          <a:p>
            <a:pPr>
              <a:spcAft>
                <a:spcPts val="800"/>
              </a:spcAft>
            </a:pPr>
            <a:r>
              <a:rPr sz="1600"/>
              <a:t>9. Tüm ara değerler Excel formülü olmalı, sabit sayı değil.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Anket Tasarımı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r>
                        <a:rPr sz="1300" b="1"/>
                        <a:t>Bileşen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Sayı / Detay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Demografik soru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 (cinsiyet, yaş, eğitim, meslek, sıklık, cihaz)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Kriter (hepsi FAYDA)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İkili karşılaştırma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 = C(5,2)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Alternatif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 e-ticaret sitesi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TOPSIS hücresi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 kriter × 6 alternatif = 30 puan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Toplam katılımcı (demo)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/>
                        <a:t>Tutarlı katılımcı (demo)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  (eşik: ≥ 20)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/>
              <a:t>Kriterler: Ödeme  •  Kullanıcı Deneyimi  •  Kargo  •  Müşteri Yorumları  •  Fiyatlandırma</a:t>
            </a:r>
          </a:p>
          <a:p>
            <a:pPr>
              <a:spcAft>
                <a:spcPts val="800"/>
              </a:spcAft>
            </a:pPr>
            <a:r>
              <a:rPr sz="1400"/>
              <a:t>Alternatifler: Trendyol  •  N11  •  Hepsiburada  •  PttAVM  •  Çiçek Sepeti  •  Amazon Türkiye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AHP — Her Katılımcı için İşleyiş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1. Saaty 1-9 skalasıyla 5×5 ikili karşılaştırma matrisi (A).</a:t>
            </a:r>
          </a:p>
          <a:p>
            <a:pPr>
              <a:spcAft>
                <a:spcPts val="800"/>
              </a:spcAft>
            </a:pPr>
            <a:r>
              <a:rPr sz="1800"/>
              <a:t>2. Sütun toplamlarına bölme → normalize matris (N).</a:t>
            </a:r>
          </a:p>
          <a:p>
            <a:pPr>
              <a:spcAft>
                <a:spcPts val="800"/>
              </a:spcAft>
            </a:pPr>
            <a:r>
              <a:rPr sz="1800"/>
              <a:t>3. Satır ortalamaları → Öz Vektör w (kriter ağırlıkları).</a:t>
            </a:r>
          </a:p>
          <a:p>
            <a:pPr>
              <a:spcAft>
                <a:spcPts val="800"/>
              </a:spcAft>
            </a:pPr>
            <a:r>
              <a:rPr sz="1800"/>
              <a:t>4. Aw / w değerlerinin ortalaması → λ_max (ENBÖZD).</a:t>
            </a:r>
          </a:p>
          <a:p>
            <a:pPr>
              <a:spcAft>
                <a:spcPts val="800"/>
              </a:spcAft>
            </a:pPr>
            <a:r>
              <a:rPr sz="1800"/>
              <a:t>5. CI = (λ_max − n) / (n − 1)  ;   n = 5.</a:t>
            </a:r>
          </a:p>
          <a:p>
            <a:pPr>
              <a:spcAft>
                <a:spcPts val="800"/>
              </a:spcAft>
            </a:pPr>
            <a:r>
              <a:rPr sz="1800"/>
              <a:t>6. CR = CI / RI;  n=5 için RI = 1.11.</a:t>
            </a:r>
          </a:p>
          <a:p>
            <a:pPr>
              <a:spcAft>
                <a:spcPts val="800"/>
              </a:spcAft>
            </a:pPr>
            <a:r>
              <a:rPr sz="1800"/>
              <a:t>7. CR ≤ 0.10 → katılımcı 'tutarlı' kabul edilir.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Tutarlılık Sonucu — 23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Toplam katılımcı: 35</a:t>
            </a:r>
          </a:p>
          <a:p>
            <a:pPr>
              <a:spcAft>
                <a:spcPts val="800"/>
              </a:spcAft>
            </a:pPr>
            <a:r>
              <a:rPr sz="2000"/>
              <a:t>Tutarlı (CR ≤ 0.10): 23</a:t>
            </a:r>
          </a:p>
          <a:p>
            <a:pPr>
              <a:spcAft>
                <a:spcPts val="800"/>
              </a:spcAft>
            </a:pPr>
            <a:r>
              <a:rPr sz="2000"/>
              <a:t>Asgari gereksinim: 20 — KARŞILANDI ✓</a:t>
            </a:r>
          </a:p>
          <a:p>
            <a:pPr>
              <a:spcAft>
                <a:spcPts val="800"/>
              </a:spcAft>
            </a:pPr>
            <a:r>
              <a:rPr sz="2000"/>
              <a:t>Bonus (35+ katılımcı): KAZANILDI ✓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200400"/>
          <a:ext cx="8229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AHP Birleştirme — Geometrik Ortalama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g_k = (∏ wₖ⁽ⁱ⁾)^(1/m)   (m: tutarlı katılımcı sayısı)</a:t>
            </a:r>
          </a:p>
          <a:p>
            <a:pPr>
              <a:spcAft>
                <a:spcPts val="800"/>
              </a:spcAft>
            </a:pPr>
            <a:r>
              <a:rPr sz="2000"/>
              <a:t>Wₖ = g_k / Σ g_j  →  toplam 1 olacak şekilde normalize.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9260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/>
                        <a:t>Kriter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Geometrik Ort. (norm.) Wₖ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K1 Ödeme Seçenekleri ve Güvenliği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0.1729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K2 Kullanıcı Deneyimi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0.1550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K3 Kargo Süresi ve Teslimat Güvenilirliği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0.2402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K4 Müşteri Yorumları ve Puanlamalar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0.1167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K5 Fiyatlandırma ve Kampanyalar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0.3153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Karar Matrisi — Aritmetik Ortalama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Her (alternatif, kriter) hücresi için: tüm katılımcıların verdiği 0-100 puanın aritmetik ortalaması.</a:t>
            </a:r>
          </a:p>
          <a:p>
            <a:pPr>
              <a:spcAft>
                <a:spcPts val="800"/>
              </a:spcAft>
            </a:pPr>
            <a:r>
              <a:rPr sz="1600"/>
              <a:t>‘Kullanmıyorum' yanıtları ortalamaya dahil edilmez (kayıp veri).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22514">
                <a:tc>
                  <a:txBody>
                    <a:bodyPr/>
                    <a:lstStyle/>
                    <a:p>
                      <a:r>
                        <a:rPr sz="1300" b="1"/>
                        <a:t>Alternatif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Ödeme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Kullanıcı Deneyimi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Kargo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Müşteri Yorumları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Fiyatlandırma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/>
                        <a:t>Trendyol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80.9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/>
                        <a:t>N11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64.2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/>
                        <a:t>Hepsiburada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74.4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/>
                        <a:t>PttAVM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56.2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/>
                        <a:t>Çiçek Sepeti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57.7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00"/>
                        <a:t>Amazon Türkiye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TOPSIS — 7 Adım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1. Sütun normu: n_j = √Σdᵢⱼ²</a:t>
            </a:r>
          </a:p>
          <a:p>
            <a:pPr>
              <a:spcAft>
                <a:spcPts val="800"/>
              </a:spcAft>
            </a:pPr>
            <a:r>
              <a:rPr sz="1800"/>
              <a:t>2. Normalize matris: rᵢⱼ = dᵢⱼ / n_j</a:t>
            </a:r>
          </a:p>
          <a:p>
            <a:pPr>
              <a:spcAft>
                <a:spcPts val="800"/>
              </a:spcAft>
            </a:pPr>
            <a:r>
              <a:rPr sz="1800"/>
              <a:t>3. Ağırlıklı normalize: vᵢⱼ = Wⱼ · rᵢⱼ</a:t>
            </a:r>
          </a:p>
          <a:p>
            <a:pPr>
              <a:spcAft>
                <a:spcPts val="800"/>
              </a:spcAft>
            </a:pPr>
            <a:r>
              <a:rPr sz="1800"/>
              <a:t>4. İdeal çözümler (hepsi fayda): A⁺ = sütun max, A⁻ = sütun min</a:t>
            </a:r>
          </a:p>
          <a:p>
            <a:pPr>
              <a:spcAft>
                <a:spcPts val="800"/>
              </a:spcAft>
            </a:pPr>
            <a:r>
              <a:rPr sz="1800"/>
              <a:t>5. Mesafeler: S⁺ᵢ = √Σⱼ (vᵢⱼ − A⁺ⱼ)²  ;  S⁻ᵢ benzer şekilde</a:t>
            </a:r>
          </a:p>
          <a:p>
            <a:pPr>
              <a:spcAft>
                <a:spcPts val="800"/>
              </a:spcAft>
            </a:pPr>
            <a:r>
              <a:rPr sz="1800"/>
              <a:t>6. Yakınlık katsayısı: Cᵢ = S⁻ᵢ / (S⁺ᵢ + S⁻ᵢ)</a:t>
            </a:r>
          </a:p>
          <a:p>
            <a:pPr>
              <a:spcAft>
                <a:spcPts val="800"/>
              </a:spcAft>
            </a:pPr>
            <a:r>
              <a:rPr sz="1800"/>
              <a:t>7. Sıralama: Cᵢ azalan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TOPSIS Sonuçları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ELECTRE I — Yöntem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TOPSIS'in ürettiği ağırlıklı normalize matris V üzerinden çalışır.</a:t>
            </a:r>
          </a:p>
          <a:p>
            <a:pPr>
              <a:spcAft>
                <a:spcPts val="800"/>
              </a:spcAft>
            </a:pPr>
            <a:r>
              <a:rPr sz="1600"/>
              <a:t>Her (Aₚ, A_q) için: Uyum C(p,q) = Σ_{j: vₚⱼ≥v_qⱼ} Wⱼ</a:t>
            </a:r>
          </a:p>
          <a:p>
            <a:pPr>
              <a:spcAft>
                <a:spcPts val="800"/>
              </a:spcAft>
            </a:pPr>
            <a:r>
              <a:rPr sz="1600"/>
              <a:t>Uyumsuzluk d(p,q) = max_{j: vₚⱼ&lt;v_qⱼ} |vₚⱼ−v_qⱼ| / max_j |vₚⱼ−v_qⱼ|</a:t>
            </a:r>
          </a:p>
          <a:p>
            <a:pPr>
              <a:spcAft>
                <a:spcPts val="800"/>
              </a:spcAft>
            </a:pPr>
            <a:r>
              <a:rPr sz="1600"/>
              <a:t>Eşikler: c̄ = ortalama C,  d̄ = ortalama d (köşegen hariç).</a:t>
            </a:r>
          </a:p>
          <a:p>
            <a:pPr>
              <a:spcAft>
                <a:spcPts val="800"/>
              </a:spcAft>
            </a:pPr>
            <a:r>
              <a:rPr sz="1600"/>
              <a:t>Üstünlük (outranking): Aₚ ➜ A_q  ⟺  C(p,q) ≥ c̄  AND  d(p,q) ≤ d̄</a:t>
            </a:r>
          </a:p>
          <a:p>
            <a:pPr>
              <a:spcAft>
                <a:spcPts val="800"/>
              </a:spcAft>
            </a:pPr>
            <a:r>
              <a:rPr sz="1600"/>
              <a:t>Net skor = satır toplamı − sütun toplamı  →  azalan sıra.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ELECTRE Sonuçları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Karşılaştırma — TOPSIS ve ELECTRE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rPr sz="1300" b="1"/>
                        <a:t>Sıra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TOPSIS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ELECTRE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Net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Trendyol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Trendyol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Amazon Türkiye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Amazon Türkiye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Hepsiburada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Hepsiburada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+1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Çiçek Sepeti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-2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Çiçek Sepeti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-2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3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PttAVM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PttAVM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ve Yorum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En yüksek performans (TOPSIS): Trendyol  (C = 0.8713)</a:t>
            </a:r>
          </a:p>
          <a:p>
            <a:pPr>
              <a:spcAft>
                <a:spcPts val="800"/>
              </a:spcAft>
            </a:pPr>
            <a:r>
              <a:rPr sz="1800"/>
              <a:t>İkinci (TOPSIS): Amazon Türkiye</a:t>
            </a:r>
          </a:p>
          <a:p>
            <a:pPr>
              <a:spcAft>
                <a:spcPts val="800"/>
              </a:spcAft>
            </a:pPr>
            <a:r>
              <a:rPr sz="1800"/>
              <a:t>En düşük performans (TOPSIS): PttAVM</a:t>
            </a:r>
          </a:p>
          <a:p>
            <a:pPr>
              <a:spcAft>
                <a:spcPts val="800"/>
              </a:spcAft>
            </a:pPr>
            <a:r>
              <a:rPr sz="1800"/>
              <a:t>ELECTRE genel olarak TOPSIS ile uyumlu bir sıralama üretmiştir.</a:t>
            </a:r>
          </a:p>
          <a:p>
            <a:pPr>
              <a:spcAft>
                <a:spcPts val="800"/>
              </a:spcAft>
            </a:pPr>
            <a:r>
              <a:rPr sz="1800"/>
              <a:t>Sınırlamalar: Anket örneklemi gönüllülerden oluşmaktadır; demografik çeşitlilik daha fazla katılımcı ile artırılabilir.</a:t>
            </a:r>
          </a:p>
          <a:p>
            <a:pPr>
              <a:spcAft>
                <a:spcPts val="800"/>
              </a:spcAft>
            </a:pPr>
            <a:r>
              <a:rPr sz="1800"/>
              <a:t>Gelecek çalışma: Daha fazla katılımcı, kriterlere alt-kriter ekleme, AHP'nin yerine ANP kullanma.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Kaynaklar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Saaty, T.L. (1980). The Analytic Hierarchy Process. McGraw-Hill.</a:t>
            </a:r>
          </a:p>
          <a:p>
            <a:pPr>
              <a:spcAft>
                <a:spcPts val="800"/>
              </a:spcAft>
            </a:pPr>
            <a:r>
              <a:rPr sz="1600"/>
              <a:t>Hwang, C.L. &amp; Yoon, K. (1981). Multiple Attribute Decision Making: Methods and Applications. Springer.</a:t>
            </a:r>
          </a:p>
          <a:p>
            <a:pPr>
              <a:spcAft>
                <a:spcPts val="800"/>
              </a:spcAft>
            </a:pPr>
            <a:r>
              <a:rPr sz="1600"/>
              <a:t>Roy, B. (1968). Classement et choix en présence de points de vue multiples (ELECTRE).</a:t>
            </a:r>
          </a:p>
          <a:p>
            <a:pPr>
              <a:spcAft>
                <a:spcPts val="800"/>
              </a:spcAft>
            </a:pPr>
            <a:r>
              <a:rPr sz="1600"/>
              <a:t>Ders materyali: Numpy_1.pdf, Numpy-AHP.pdf, Numpy_ile_TOPSIS.pdf (Dr. Alipour).</a:t>
            </a:r>
          </a:p>
          <a:p>
            <a:pPr>
              <a:spcAft>
                <a:spcPts val="800"/>
              </a:spcAft>
            </a:pPr>
            <a:r>
              <a:rPr sz="1600"/>
              <a:t>Görev brifi: Final.docx, anket_sirasi.docx (YBS302, İstanbul Gelişim Ü.).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